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Extra-Light" panose="020B0604020202020204" charset="0"/>
      <p:regular r:id="rId13"/>
    </p:embeddedFont>
    <p:embeddedFont>
      <p:font typeface="Telegraf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0AEA7-7B6C-4148-9938-76D263EEDA0E}" v="1" dt="2026-05-22T11:45:25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PATANAYAK" userId="f1c8357f98ef9076" providerId="LiveId" clId="{4C3EAF42-8462-4C6C-8932-4A722CD58019}"/>
    <pc:docChg chg="undo custSel modSld">
      <pc:chgData name="ATUL PATANAYAK" userId="f1c8357f98ef9076" providerId="LiveId" clId="{4C3EAF42-8462-4C6C-8932-4A722CD58019}" dt="2026-05-22T12:10:08.661" v="244" actId="20577"/>
      <pc:docMkLst>
        <pc:docMk/>
      </pc:docMkLst>
      <pc:sldChg chg="modSp mod">
        <pc:chgData name="ATUL PATANAYAK" userId="f1c8357f98ef9076" providerId="LiveId" clId="{4C3EAF42-8462-4C6C-8932-4A722CD58019}" dt="2026-05-22T12:10:08.661" v="244" actId="20577"/>
        <pc:sldMkLst>
          <pc:docMk/>
          <pc:sldMk cId="0" sldId="256"/>
        </pc:sldMkLst>
        <pc:spChg chg="mod">
          <ac:chgData name="ATUL PATANAYAK" userId="f1c8357f98ef9076" providerId="LiveId" clId="{4C3EAF42-8462-4C6C-8932-4A722CD58019}" dt="2026-05-22T12:10:08.661" v="244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51:08.280" v="146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2:09:28.804" v="207" actId="404"/>
          <ac:spMkLst>
            <pc:docMk/>
            <pc:sldMk cId="0" sldId="256"/>
            <ac:spMk id="17" creationId="{00000000-0000-0000-0000-000000000000}"/>
          </ac:spMkLst>
        </pc:spChg>
      </pc:sldChg>
      <pc:sldChg chg="modSp mod">
        <pc:chgData name="ATUL PATANAYAK" userId="f1c8357f98ef9076" providerId="LiveId" clId="{4C3EAF42-8462-4C6C-8932-4A722CD58019}" dt="2026-05-22T11:39:23.699" v="37" actId="115"/>
        <pc:sldMkLst>
          <pc:docMk/>
          <pc:sldMk cId="0" sldId="257"/>
        </pc:sldMkLst>
        <pc:spChg chg="mod">
          <ac:chgData name="ATUL PATANAYAK" userId="f1c8357f98ef9076" providerId="LiveId" clId="{4C3EAF42-8462-4C6C-8932-4A722CD58019}" dt="2026-05-22T11:39:23.699" v="37" actId="11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39:13.341" v="36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ATUL PATANAYAK" userId="f1c8357f98ef9076" providerId="LiveId" clId="{4C3EAF42-8462-4C6C-8932-4A722CD58019}" dt="2026-05-22T11:49:47.112" v="115" actId="404"/>
        <pc:sldMkLst>
          <pc:docMk/>
          <pc:sldMk cId="0" sldId="258"/>
        </pc:sldMkLst>
        <pc:spChg chg="mod">
          <ac:chgData name="ATUL PATANAYAK" userId="f1c8357f98ef9076" providerId="LiveId" clId="{4C3EAF42-8462-4C6C-8932-4A722CD58019}" dt="2026-05-22T11:49:47.112" v="115" actId="40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39:39.564" v="41" actId="115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ATUL PATANAYAK" userId="f1c8357f98ef9076" providerId="LiveId" clId="{4C3EAF42-8462-4C6C-8932-4A722CD58019}" dt="2026-05-22T11:40:23.142" v="50" actId="113"/>
        <pc:sldMkLst>
          <pc:docMk/>
          <pc:sldMk cId="0" sldId="259"/>
        </pc:sldMkLst>
        <pc:spChg chg="mod">
          <ac:chgData name="ATUL PATANAYAK" userId="f1c8357f98ef9076" providerId="LiveId" clId="{4C3EAF42-8462-4C6C-8932-4A722CD58019}" dt="2026-05-22T11:40:03.826" v="4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0:23.142" v="50" actId="113"/>
          <ac:spMkLst>
            <pc:docMk/>
            <pc:sldMk cId="0" sldId="259"/>
            <ac:spMk id="14" creationId="{00000000-0000-0000-0000-000000000000}"/>
          </ac:spMkLst>
        </pc:spChg>
        <pc:grpChg chg="mod">
          <ac:chgData name="ATUL PATANAYAK" userId="f1c8357f98ef9076" providerId="LiveId" clId="{4C3EAF42-8462-4C6C-8932-4A722CD58019}" dt="2026-05-22T11:39:54.817" v="43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ATUL PATANAYAK" userId="f1c8357f98ef9076" providerId="LiveId" clId="{4C3EAF42-8462-4C6C-8932-4A722CD58019}" dt="2026-05-22T11:40:07.525" v="45" actId="1076"/>
          <ac:picMkLst>
            <pc:docMk/>
            <pc:sldMk cId="0" sldId="259"/>
            <ac:picMk id="11" creationId="{00000000-0000-0000-0000-000000000000}"/>
          </ac:picMkLst>
        </pc:picChg>
      </pc:sldChg>
      <pc:sldChg chg="modSp mod">
        <pc:chgData name="ATUL PATANAYAK" userId="f1c8357f98ef9076" providerId="LiveId" clId="{4C3EAF42-8462-4C6C-8932-4A722CD58019}" dt="2026-05-22T11:41:07.451" v="53" actId="1076"/>
        <pc:sldMkLst>
          <pc:docMk/>
          <pc:sldMk cId="0" sldId="260"/>
        </pc:sldMkLst>
        <pc:spChg chg="mod">
          <ac:chgData name="ATUL PATANAYAK" userId="f1c8357f98ef9076" providerId="LiveId" clId="{4C3EAF42-8462-4C6C-8932-4A722CD58019}" dt="2026-05-22T11:40:59.191" v="5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1:07.451" v="53" actId="1076"/>
          <ac:spMkLst>
            <pc:docMk/>
            <pc:sldMk cId="0" sldId="260"/>
            <ac:spMk id="14" creationId="{00000000-0000-0000-0000-000000000000}"/>
          </ac:spMkLst>
        </pc:spChg>
        <pc:picChg chg="mod">
          <ac:chgData name="ATUL PATANAYAK" userId="f1c8357f98ef9076" providerId="LiveId" clId="{4C3EAF42-8462-4C6C-8932-4A722CD58019}" dt="2026-05-22T11:40:50.688" v="51" actId="1076"/>
          <ac:picMkLst>
            <pc:docMk/>
            <pc:sldMk cId="0" sldId="260"/>
            <ac:picMk id="11" creationId="{00000000-0000-0000-0000-000000000000}"/>
          </ac:picMkLst>
        </pc:picChg>
      </pc:sldChg>
      <pc:sldChg chg="modSp mod">
        <pc:chgData name="ATUL PATANAYAK" userId="f1c8357f98ef9076" providerId="LiveId" clId="{4C3EAF42-8462-4C6C-8932-4A722CD58019}" dt="2026-05-22T11:42:05.901" v="67" actId="403"/>
        <pc:sldMkLst>
          <pc:docMk/>
          <pc:sldMk cId="0" sldId="261"/>
        </pc:sldMkLst>
        <pc:spChg chg="mod">
          <ac:chgData name="ATUL PATANAYAK" userId="f1c8357f98ef9076" providerId="LiveId" clId="{4C3EAF42-8462-4C6C-8932-4A722CD58019}" dt="2026-05-22T11:42:05.901" v="67" actId="403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ATUL PATANAYAK" userId="f1c8357f98ef9076" providerId="LiveId" clId="{4C3EAF42-8462-4C6C-8932-4A722CD58019}" dt="2026-05-22T11:44:15.276" v="77" actId="1076"/>
        <pc:sldMkLst>
          <pc:docMk/>
          <pc:sldMk cId="0" sldId="263"/>
        </pc:sldMkLst>
        <pc:spChg chg="mod">
          <ac:chgData name="ATUL PATANAYAK" userId="f1c8357f98ef9076" providerId="LiveId" clId="{4C3EAF42-8462-4C6C-8932-4A722CD58019}" dt="2026-05-22T11:43:16.201" v="68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4:15.276" v="77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4:04.693" v="76" actId="115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ATUL PATANAYAK" userId="f1c8357f98ef9076" providerId="LiveId" clId="{4C3EAF42-8462-4C6C-8932-4A722CD58019}" dt="2026-05-22T11:47:22.826" v="114" actId="14100"/>
        <pc:sldMkLst>
          <pc:docMk/>
          <pc:sldMk cId="0" sldId="264"/>
        </pc:sldMkLst>
        <pc:spChg chg="mod">
          <ac:chgData name="ATUL PATANAYAK" userId="f1c8357f98ef9076" providerId="LiveId" clId="{4C3EAF42-8462-4C6C-8932-4A722CD58019}" dt="2026-05-22T11:47:13.145" v="112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7:01.214" v="10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TUL PATANAYAK" userId="f1c8357f98ef9076" providerId="LiveId" clId="{4C3EAF42-8462-4C6C-8932-4A722CD58019}" dt="2026-05-22T11:47:05.804" v="110" actId="1076"/>
          <ac:spMkLst>
            <pc:docMk/>
            <pc:sldMk cId="0" sldId="264"/>
            <ac:spMk id="13" creationId="{00000000-0000-0000-0000-000000000000}"/>
          </ac:spMkLst>
        </pc:spChg>
        <pc:grpChg chg="mod">
          <ac:chgData name="ATUL PATANAYAK" userId="f1c8357f98ef9076" providerId="LiveId" clId="{4C3EAF42-8462-4C6C-8932-4A722CD58019}" dt="2026-05-22T11:47:19.105" v="113" actId="1076"/>
          <ac:grpSpMkLst>
            <pc:docMk/>
            <pc:sldMk cId="0" sldId="264"/>
            <ac:grpSpMk id="2" creationId="{00000000-0000-0000-0000-000000000000}"/>
          </ac:grpSpMkLst>
        </pc:grpChg>
        <pc:picChg chg="mod">
          <ac:chgData name="ATUL PATANAYAK" userId="f1c8357f98ef9076" providerId="LiveId" clId="{4C3EAF42-8462-4C6C-8932-4A722CD58019}" dt="2026-05-22T11:47:22.826" v="114" actId="14100"/>
          <ac:picMkLst>
            <pc:docMk/>
            <pc:sldMk cId="0" sldId="264"/>
            <ac:picMk id="14" creationId="{00000000-0000-0000-0000-000000000000}"/>
          </ac:picMkLst>
        </pc:picChg>
      </pc:sldChg>
      <pc:sldChg chg="modSp mod">
        <pc:chgData name="ATUL PATANAYAK" userId="f1c8357f98ef9076" providerId="LiveId" clId="{4C3EAF42-8462-4C6C-8932-4A722CD58019}" dt="2026-05-22T11:50:10.686" v="117" actId="1076"/>
        <pc:sldMkLst>
          <pc:docMk/>
          <pc:sldMk cId="0" sldId="265"/>
        </pc:sldMkLst>
        <pc:spChg chg="mod">
          <ac:chgData name="ATUL PATANAYAK" userId="f1c8357f98ef9076" providerId="LiveId" clId="{4C3EAF42-8462-4C6C-8932-4A722CD58019}" dt="2026-05-22T11:50:10.686" v="117" actId="1076"/>
          <ac:spMkLst>
            <pc:docMk/>
            <pc:sldMk cId="0" sldId="265"/>
            <ac:spMk id="16" creationId="{00000000-0000-0000-0000-000000000000}"/>
          </ac:spMkLst>
        </pc:spChg>
        <pc:grpChg chg="mod">
          <ac:chgData name="ATUL PATANAYAK" userId="f1c8357f98ef9076" providerId="LiveId" clId="{4C3EAF42-8462-4C6C-8932-4A722CD58019}" dt="2026-05-22T11:50:04.055" v="116" actId="1076"/>
          <ac:grpSpMkLst>
            <pc:docMk/>
            <pc:sldMk cId="0" sldId="265"/>
            <ac:grpSpMk id="15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06972" y="2345122"/>
            <a:ext cx="12474056" cy="466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43"/>
              </a:lnSpc>
            </a:pPr>
            <a:r>
              <a:rPr lang="en-US" sz="8325" b="1" spc="-349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MEDIPREDICT</a:t>
            </a:r>
          </a:p>
          <a:p>
            <a:pPr marL="0" lvl="0" indent="0" algn="ctr">
              <a:lnSpc>
                <a:spcPts val="7243"/>
              </a:lnSpc>
            </a:pPr>
            <a:r>
              <a:rPr lang="en-US" sz="8325" b="1" spc="-349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DISEASE PREDICTION SYSTEM </a:t>
            </a:r>
          </a:p>
          <a:p>
            <a:pPr marL="0" lvl="0" indent="0" algn="ctr">
              <a:lnSpc>
                <a:spcPts val="7243"/>
              </a:lnSpc>
            </a:pPr>
            <a:endParaRPr lang="en-US" sz="8325" b="1" spc="-349" dirty="0">
              <a:solidFill>
                <a:srgbClr val="52FFCB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  <a:p>
            <a:pPr marL="0" lvl="0" indent="0" algn="ctr">
              <a:lnSpc>
                <a:spcPts val="7243"/>
              </a:lnSpc>
            </a:pPr>
            <a:endParaRPr lang="en-US" sz="8000" b="1" spc="-349" dirty="0">
              <a:solidFill>
                <a:srgbClr val="52FFCB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12273" y="6512995"/>
            <a:ext cx="16047027" cy="0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968942" y="6512995"/>
            <a:ext cx="0" cy="2745305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719281" y="7671967"/>
            <a:ext cx="9118403" cy="254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  <a:spcBef>
                <a:spcPct val="0"/>
              </a:spcBef>
            </a:pPr>
            <a:r>
              <a:rPr lang="en-US" sz="1464" dirty="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A Machine Learning Web Application | Python • Flask • scikit-learn • Random Forest | 2026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968942" y="6136826"/>
            <a:ext cx="6290358" cy="3121484"/>
            <a:chOff x="0" y="-38100"/>
            <a:chExt cx="637115" cy="3161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7115" cy="278057"/>
            </a:xfrm>
            <a:custGeom>
              <a:avLst/>
              <a:gdLst/>
              <a:ahLst/>
              <a:cxnLst/>
              <a:rect l="l" t="t" r="r" b="b"/>
              <a:pathLst>
                <a:path w="637115" h="278057">
                  <a:moveTo>
                    <a:pt x="0" y="0"/>
                  </a:moveTo>
                  <a:lnTo>
                    <a:pt x="637115" y="0"/>
                  </a:lnTo>
                  <a:lnTo>
                    <a:pt x="637115" y="278057"/>
                  </a:lnTo>
                  <a:lnTo>
                    <a:pt x="0" y="278057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89334" cy="316155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algn="ctr">
                <a:lnSpc>
                  <a:spcPts val="1828"/>
                </a:lnSpc>
              </a:pPr>
              <a:r>
                <a:rPr lang="en-US" sz="2400" b="1" u="sng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Presented By Abacus UCP Coders</a:t>
              </a: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:-</a:t>
              </a:r>
            </a:p>
            <a:p>
              <a:pPr algn="ctr">
                <a:lnSpc>
                  <a:spcPts val="1828"/>
                </a:lnSpc>
              </a:pPr>
              <a:endParaRPr lang="en-US" sz="2000" dirty="0">
                <a:solidFill>
                  <a:srgbClr val="184A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1828"/>
                </a:lnSpc>
              </a:pP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ATUL PATANAYAK</a:t>
              </a:r>
            </a:p>
            <a:p>
              <a:pPr algn="ctr">
                <a:lnSpc>
                  <a:spcPts val="1828"/>
                </a:lnSpc>
              </a:pP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HIMANI PANIGRAHY</a:t>
              </a:r>
            </a:p>
            <a:p>
              <a:pPr algn="ctr">
                <a:lnSpc>
                  <a:spcPts val="1828"/>
                </a:lnSpc>
              </a:pP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KANHU CHARAN SETHI </a:t>
              </a:r>
            </a:p>
            <a:p>
              <a:pPr algn="ctr">
                <a:lnSpc>
                  <a:spcPts val="1828"/>
                </a:lnSpc>
              </a:pP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MANAS RANJAN SAHU</a:t>
              </a:r>
            </a:p>
            <a:p>
              <a:pPr marL="0" lvl="0" indent="0" algn="ctr">
                <a:lnSpc>
                  <a:spcPts val="1828"/>
                </a:lnSpc>
              </a:pPr>
              <a:r>
                <a:rPr lang="en-US" sz="2000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BEDA PRAKASH PADHI</a:t>
              </a:r>
              <a:endParaRPr lang="en-US" sz="1305" dirty="0">
                <a:solidFill>
                  <a:srgbClr val="184A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2273" y="1028700"/>
            <a:ext cx="6269859" cy="8229600"/>
            <a:chOff x="0" y="0"/>
            <a:chExt cx="971365" cy="12749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1365" cy="1274980"/>
            </a:xfrm>
            <a:custGeom>
              <a:avLst/>
              <a:gdLst/>
              <a:ahLst/>
              <a:cxnLst/>
              <a:rect l="l" t="t" r="r" b="b"/>
              <a:pathLst>
                <a:path w="971365" h="1274980">
                  <a:moveTo>
                    <a:pt x="0" y="0"/>
                  </a:moveTo>
                  <a:lnTo>
                    <a:pt x="971365" y="0"/>
                  </a:lnTo>
                  <a:lnTo>
                    <a:pt x="97136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t="-1046" b="-1046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8110092" y="1985930"/>
            <a:ext cx="8469998" cy="192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5"/>
              </a:lnSpc>
            </a:pPr>
            <a:r>
              <a:rPr lang="en-US" sz="7994" b="1" spc="-335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INTRODUCTION &amp;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72775" y="4364590"/>
            <a:ext cx="8469998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u="sng" dirty="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72775" y="4914411"/>
            <a:ext cx="9090786" cy="281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dirty="0" err="1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MediPredict</a:t>
            </a: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leverages machine learning to predict diseases from user-reported symptoms. This educational project demonstrates seamless Flask and ML integration.</a:t>
            </a: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endParaRPr lang="en-US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Key Objectives</a:t>
            </a:r>
            <a:r>
              <a:rPr lang="en-US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:</a:t>
            </a: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endParaRPr lang="en-US" u="sng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Predict diseases accurately from symptom inputs</a:t>
            </a: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Build an interactive, user-friendly web application</a:t>
            </a: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Integrate Flask backend with Random Forest ML model</a:t>
            </a:r>
          </a:p>
          <a:p>
            <a:pPr marL="0" lvl="0" indent="0" algn="just">
              <a:lnSpc>
                <a:spcPts val="2178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Provide actionable health suggestions to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75009" y="1964671"/>
            <a:ext cx="7802522" cy="1814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5"/>
              </a:lnSpc>
            </a:pPr>
            <a:r>
              <a:rPr lang="en-US" sz="7200" b="1" spc="-335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TECHNOLOGIES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6666" y="4241612"/>
            <a:ext cx="6195294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Backend &amp; Frontend Stack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8672" y="5067300"/>
            <a:ext cx="10443622" cy="125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r>
              <a:rPr lang="en-US" sz="2373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Backend</a:t>
            </a:r>
            <a:r>
              <a:rPr lang="en-US" sz="237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: Python, Flask, scikit-learn, pandas, NumPy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r>
              <a:rPr lang="en-US" sz="2373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Frontend</a:t>
            </a:r>
            <a:r>
              <a:rPr lang="en-US" sz="237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: HTML, CSS, JavaScript, Jinja2</a:t>
            </a:r>
          </a:p>
          <a:p>
            <a:pPr marL="0" lvl="0" indent="0" algn="just">
              <a:lnSpc>
                <a:spcPts val="3323"/>
              </a:lnSpc>
              <a:spcBef>
                <a:spcPct val="0"/>
              </a:spcBef>
            </a:pPr>
            <a:r>
              <a:rPr lang="en-US" sz="237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Modern tools powering intelligent disease prediction.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444281" y="1698837"/>
            <a:ext cx="6149231" cy="7040051"/>
            <a:chOff x="0" y="0"/>
            <a:chExt cx="952677" cy="10906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2677" cy="1090688"/>
            </a:xfrm>
            <a:custGeom>
              <a:avLst/>
              <a:gdLst/>
              <a:ahLst/>
              <a:cxnLst/>
              <a:rect l="l" t="t" r="r" b="b"/>
              <a:pathLst>
                <a:path w="952677" h="1090688">
                  <a:moveTo>
                    <a:pt x="0" y="0"/>
                  </a:moveTo>
                  <a:lnTo>
                    <a:pt x="952677" y="0"/>
                  </a:lnTo>
                  <a:lnTo>
                    <a:pt x="952677" y="1090688"/>
                  </a:lnTo>
                  <a:lnTo>
                    <a:pt x="0" y="1090688"/>
                  </a:lnTo>
                  <a:close/>
                </a:path>
              </a:pathLst>
            </a:custGeom>
            <a:blipFill>
              <a:blip r:embed="rId2"/>
              <a:stretch>
                <a:fillRect t="-4000" b="-400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913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640" y="2182424"/>
            <a:ext cx="6581369" cy="5855475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029939" y="1459089"/>
            <a:ext cx="7950605" cy="263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54"/>
              </a:lnSpc>
            </a:pPr>
            <a:r>
              <a:rPr lang="en-US" sz="7533" b="1" spc="-316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DATASET &amp; MACHINE LEARNING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9939" y="4889478"/>
            <a:ext cx="8469998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Random Forest Classifier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29939" y="5578497"/>
            <a:ext cx="13402532" cy="332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Dataset Overview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Synthetic dataset with 8 training records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5 input symptoms: Fever, Cough, Headache, Fatigue, Body Pain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5 target diseases: COVID-19, Flu, Migraine, Cold, Healthy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endParaRPr lang="en-US" sz="2039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ML Model Configuration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Random Forest Classifier with 100 estimators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Ensemble learning combining multiple decision trees</a:t>
            </a: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2039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Improves prediction reliability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62" y="3629553"/>
            <a:ext cx="9807035" cy="643643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194826" y="1836385"/>
            <a:ext cx="12385415" cy="192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5"/>
              </a:lnSpc>
            </a:pPr>
            <a:r>
              <a:rPr lang="en-US" sz="7994" b="1" spc="-335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MODEL TRAINING PROCESS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1122" y="4569790"/>
            <a:ext cx="6195294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dirty="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From Data to Prediction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99985" y="5285515"/>
            <a:ext cx="7016264" cy="167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5382" lvl="1" indent="-207691" algn="just">
              <a:lnSpc>
                <a:spcPts val="2693"/>
              </a:lnSpc>
              <a:spcBef>
                <a:spcPct val="0"/>
              </a:spcBef>
              <a:buAutoNum type="arabicPeriod"/>
            </a:pPr>
            <a:r>
              <a:rPr lang="en-US" sz="192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Load Dataset → 2. Encode Labels → 3. Split Data (80% train, 20% test) → 4. Train Random Forest (</a:t>
            </a:r>
            <a:r>
              <a:rPr lang="en-US" sz="1923" dirty="0" err="1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n_estimators</a:t>
            </a:r>
            <a:r>
              <a:rPr lang="en-US" sz="192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=100) → 5. Predict Diseases → 6. Calculate Accuracy</a:t>
            </a:r>
          </a:p>
          <a:p>
            <a:pPr marL="0" lvl="0" indent="0" algn="just">
              <a:lnSpc>
                <a:spcPts val="2693"/>
              </a:lnSpc>
              <a:spcBef>
                <a:spcPct val="0"/>
              </a:spcBef>
            </a:pPr>
            <a:r>
              <a:rPr lang="en-US" sz="192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   Parameters: </a:t>
            </a:r>
            <a:r>
              <a:rPr lang="en-US" sz="1923" dirty="0" err="1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test_size</a:t>
            </a:r>
            <a:r>
              <a:rPr lang="en-US" sz="192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=0.2, </a:t>
            </a:r>
            <a:r>
              <a:rPr lang="en-US" sz="1923" dirty="0" err="1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random_state</a:t>
            </a:r>
            <a:r>
              <a:rPr lang="en-US" sz="1923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=42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215004" y="4441327"/>
            <a:ext cx="16047027" cy="0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3546" y="1028700"/>
            <a:ext cx="5825754" cy="8229600"/>
            <a:chOff x="0" y="0"/>
            <a:chExt cx="902562" cy="12749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2562" cy="1274980"/>
            </a:xfrm>
            <a:custGeom>
              <a:avLst/>
              <a:gdLst/>
              <a:ahLst/>
              <a:cxnLst/>
              <a:rect l="l" t="t" r="r" b="b"/>
              <a:pathLst>
                <a:path w="902562" h="1274980">
                  <a:moveTo>
                    <a:pt x="0" y="0"/>
                  </a:moveTo>
                  <a:lnTo>
                    <a:pt x="902562" y="0"/>
                  </a:lnTo>
                  <a:lnTo>
                    <a:pt x="90256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t="-2534" b="-253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064573" y="1985930"/>
            <a:ext cx="8469998" cy="192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55"/>
              </a:lnSpc>
            </a:pPr>
            <a:r>
              <a:rPr lang="en-US" sz="7994" b="1" spc="-335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SYSTEM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15823" y="4344730"/>
            <a:ext cx="8469998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Application Data Flow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5823" y="5233775"/>
            <a:ext cx="10694296" cy="252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16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User → Frontend Website → Flask Backend API → Random Forest Model → Prediction Result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endParaRPr lang="en-US" sz="1600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system follows a clean request-response architecture: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User selects symptoms via the web interface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Frontend sends JSON request to Flask API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Backend processes input through ML model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Random Forest classifier returns prediction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Result displayed with health suggestions</a:t>
            </a:r>
          </a:p>
          <a:p>
            <a:pPr marL="0" lvl="0" indent="0" algn="just">
              <a:lnSpc>
                <a:spcPts val="2232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JSON communication enables seamless frontend-backend integration.</a:t>
            </a:r>
            <a:endParaRPr lang="en-US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19257" y="1823049"/>
            <a:ext cx="12433059" cy="104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5"/>
              </a:lnSpc>
            </a:pPr>
            <a:r>
              <a:rPr lang="en-US" sz="7994" b="1" spc="-335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FRONTEND WEBSITE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212273" y="3451425"/>
            <a:ext cx="16047027" cy="0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989441" y="3451425"/>
            <a:ext cx="0" cy="5806875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319248" y="3724647"/>
            <a:ext cx="7916538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User Interface Screenshots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97895" y="3451425"/>
            <a:ext cx="7461405" cy="5806875"/>
            <a:chOff x="0" y="0"/>
            <a:chExt cx="1155967" cy="8996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5967" cy="899637"/>
            </a:xfrm>
            <a:custGeom>
              <a:avLst/>
              <a:gdLst/>
              <a:ahLst/>
              <a:cxnLst/>
              <a:rect l="l" t="t" r="r" b="b"/>
              <a:pathLst>
                <a:path w="1155967" h="899637">
                  <a:moveTo>
                    <a:pt x="0" y="0"/>
                  </a:moveTo>
                  <a:lnTo>
                    <a:pt x="1155967" y="0"/>
                  </a:lnTo>
                  <a:lnTo>
                    <a:pt x="1155967" y="899637"/>
                  </a:lnTo>
                  <a:lnTo>
                    <a:pt x="0" y="899637"/>
                  </a:lnTo>
                  <a:close/>
                </a:path>
              </a:pathLst>
            </a:custGeom>
            <a:blipFill>
              <a:blip r:embed="rId2"/>
              <a:stretch>
                <a:fillRect l="-45785" r="-45785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47832" y="4453525"/>
            <a:ext cx="8314503" cy="34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Homepage – Symptom Selection Interface</a:t>
            </a: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endParaRPr lang="en-US" sz="1785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Users can easily select their symptoms through an intuitive checkbox interface. The clean, minimal design ensures a seamless experience for entering health data.</a:t>
            </a: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endParaRPr lang="en-US" sz="1785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Diagnosis Section – Prediction Interface</a:t>
            </a: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endParaRPr lang="en-US" sz="1785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2499"/>
              </a:lnSpc>
              <a:spcBef>
                <a:spcPct val="0"/>
              </a:spcBef>
            </a:pPr>
            <a:r>
              <a:rPr lang="en-US" sz="1785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After symptom submission, the system displays the predicted disease along with relevant health suggestions, powered by the Random Forest ML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15823" y="5143500"/>
            <a:ext cx="14548975" cy="4114800"/>
            <a:chOff x="0" y="0"/>
            <a:chExt cx="2254017" cy="637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54017" cy="637490"/>
            </a:xfrm>
            <a:custGeom>
              <a:avLst/>
              <a:gdLst/>
              <a:ahLst/>
              <a:cxnLst/>
              <a:rect l="l" t="t" r="r" b="b"/>
              <a:pathLst>
                <a:path w="2254017" h="637490">
                  <a:moveTo>
                    <a:pt x="0" y="0"/>
                  </a:moveTo>
                  <a:lnTo>
                    <a:pt x="2254017" y="0"/>
                  </a:lnTo>
                  <a:lnTo>
                    <a:pt x="2254017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2"/>
              <a:stretch>
                <a:fillRect t="-50769" b="-50769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987643" y="1413731"/>
            <a:ext cx="7119963" cy="192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60"/>
              </a:lnSpc>
            </a:pPr>
            <a:r>
              <a:rPr lang="en-US" sz="8000" b="1" spc="-336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FEATURES &amp; WORKING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3967" y="1255513"/>
            <a:ext cx="6195294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dirty="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Key Capabilities &amp; System Flow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5000" y="2041229"/>
            <a:ext cx="6195294" cy="197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Symptom selection interface for user input</a:t>
            </a: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Disease prediction powered by ML model</a:t>
            </a: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Health suggestions provided with results</a:t>
            </a: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Interactive, responsive user interface</a:t>
            </a: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Flask API integration for backend ML calls</a:t>
            </a: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endParaRPr lang="en-US" dirty="0">
              <a:solidFill>
                <a:srgbClr val="52FFCB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0" lvl="0" indent="0" algn="just">
              <a:lnSpc>
                <a:spcPts val="1680"/>
              </a:lnSpc>
              <a:spcBef>
                <a:spcPct val="0"/>
              </a:spcBef>
            </a:pPr>
            <a:r>
              <a:rPr lang="en-US" b="1" u="sng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Working Flow</a:t>
            </a:r>
            <a:r>
              <a:rPr lang="en-US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: User selects symptoms → JSON sent to Flask → ML model predicts → Result displayed with suggestions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0285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81200" y="1397534"/>
            <a:ext cx="7802522" cy="137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4"/>
              </a:lnSpc>
            </a:pPr>
            <a:r>
              <a:rPr lang="en-US" sz="5649" b="1" spc="-237" dirty="0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LIMITATIONS &amp; FUTURE IMPROVEMENTS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29239" y="1188764"/>
            <a:ext cx="6195294" cy="4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dirty="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Current 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9239" y="2054682"/>
            <a:ext cx="7479209" cy="131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Small synthetic dataset (8 records only)</a:t>
            </a:r>
          </a:p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Limited to 5 diseases and 5 symptoms</a:t>
            </a:r>
          </a:p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No database integration</a:t>
            </a:r>
          </a:p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No input validation implemented</a:t>
            </a:r>
          </a:p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Model retrained on every server start</a:t>
            </a:r>
          </a:p>
          <a:p>
            <a:pPr marL="0" lvl="0" indent="0" algn="just">
              <a:lnSpc>
                <a:spcPts val="1679"/>
              </a:lnSpc>
              <a:spcBef>
                <a:spcPct val="0"/>
              </a:spcBef>
            </a:pPr>
            <a:r>
              <a:rPr lang="en-US" sz="2000" dirty="0">
                <a:solidFill>
                  <a:srgbClr val="52FFCB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• Debug mode enabled (educational use only)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831" y="3619500"/>
            <a:ext cx="16079747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414173" cy="8229600"/>
            <a:chOff x="0" y="0"/>
            <a:chExt cx="1662499" cy="833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2499" cy="833530"/>
            </a:xfrm>
            <a:custGeom>
              <a:avLst/>
              <a:gdLst/>
              <a:ahLst/>
              <a:cxnLst/>
              <a:rect l="l" t="t" r="r" b="b"/>
              <a:pathLst>
                <a:path w="1662499" h="833530">
                  <a:moveTo>
                    <a:pt x="0" y="0"/>
                  </a:moveTo>
                  <a:lnTo>
                    <a:pt x="1662499" y="0"/>
                  </a:lnTo>
                  <a:lnTo>
                    <a:pt x="1662499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184A3B">
                <a:alpha val="36863"/>
              </a:srgbClr>
            </a:solidFill>
            <a:ln w="19050" cap="sq">
              <a:solidFill>
                <a:srgbClr val="52FFCB">
                  <a:alpha val="36863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662499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1028700"/>
            <a:ext cx="367146" cy="8229600"/>
            <a:chOff x="0" y="0"/>
            <a:chExt cx="37186" cy="833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5127" y="1028700"/>
            <a:ext cx="367146" cy="8229600"/>
            <a:chOff x="0" y="0"/>
            <a:chExt cx="37186" cy="833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86" cy="833530"/>
            </a:xfrm>
            <a:custGeom>
              <a:avLst/>
              <a:gdLst/>
              <a:ahLst/>
              <a:cxnLst/>
              <a:rect l="l" t="t" r="r" b="b"/>
              <a:pathLst>
                <a:path w="37186" h="833530">
                  <a:moveTo>
                    <a:pt x="0" y="0"/>
                  </a:moveTo>
                  <a:lnTo>
                    <a:pt x="37186" y="0"/>
                  </a:lnTo>
                  <a:lnTo>
                    <a:pt x="37186" y="833530"/>
                  </a:lnTo>
                  <a:lnTo>
                    <a:pt x="0" y="833530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37186" cy="909730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98758" y="3323171"/>
            <a:ext cx="12474056" cy="155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26"/>
              </a:lnSpc>
            </a:pPr>
            <a:r>
              <a:rPr lang="en-US" sz="11869" b="1" spc="-498">
                <a:solidFill>
                  <a:srgbClr val="52FFC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212273" y="6512995"/>
            <a:ext cx="16047027" cy="0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968942" y="6512995"/>
            <a:ext cx="0" cy="2745305"/>
          </a:xfrm>
          <a:prstGeom prst="line">
            <a:avLst/>
          </a:prstGeom>
          <a:ln w="9525" cap="flat">
            <a:solidFill>
              <a:srgbClr val="52FF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863292" y="7656193"/>
            <a:ext cx="4724735" cy="32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52FFCB"/>
                </a:solidFill>
                <a:latin typeface="Poppins"/>
                <a:ea typeface="Poppins"/>
                <a:cs typeface="Poppins"/>
                <a:sym typeface="Poppins"/>
              </a:rPr>
              <a:t>MediPredict – Disease Prediction System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478953" y="7247555"/>
            <a:ext cx="3281711" cy="997301"/>
            <a:chOff x="0" y="-47625"/>
            <a:chExt cx="332386" cy="101012"/>
          </a:xfrm>
        </p:grpSpPr>
        <p:sp>
          <p:nvSpPr>
            <p:cNvPr id="16" name="Freeform 16"/>
            <p:cNvSpPr/>
            <p:nvPr/>
          </p:nvSpPr>
          <p:spPr>
            <a:xfrm>
              <a:off x="1152" y="-23813"/>
              <a:ext cx="331234" cy="53387"/>
            </a:xfrm>
            <a:custGeom>
              <a:avLst/>
              <a:gdLst/>
              <a:ahLst/>
              <a:cxnLst/>
              <a:rect l="l" t="t" r="r" b="b"/>
              <a:pathLst>
                <a:path w="331234" h="53387">
                  <a:moveTo>
                    <a:pt x="0" y="0"/>
                  </a:moveTo>
                  <a:lnTo>
                    <a:pt x="331234" y="0"/>
                  </a:lnTo>
                  <a:lnTo>
                    <a:pt x="331234" y="53387"/>
                  </a:lnTo>
                  <a:lnTo>
                    <a:pt x="0" y="53387"/>
                  </a:lnTo>
                  <a:close/>
                </a:path>
              </a:pathLst>
            </a:custGeom>
            <a:solidFill>
              <a:srgbClr val="52FFC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31234" cy="101012"/>
            </a:xfrm>
            <a:prstGeom prst="rect">
              <a:avLst/>
            </a:prstGeom>
          </p:spPr>
          <p:txBody>
            <a:bodyPr lIns="91115" tIns="91115" rIns="91115" bIns="91115" rtlCol="0" anchor="ctr"/>
            <a:lstStyle/>
            <a:p>
              <a:pPr marL="0" lvl="0" indent="0" algn="ctr">
                <a:lnSpc>
                  <a:spcPts val="2239"/>
                </a:lnSpc>
              </a:pPr>
              <a:r>
                <a:rPr lang="en-US" sz="1599" dirty="0">
                  <a:solidFill>
                    <a:srgbClr val="184A3B"/>
                  </a:solidFill>
                  <a:latin typeface="Poppins"/>
                  <a:ea typeface="Poppins"/>
                  <a:cs typeface="Poppins"/>
                  <a:sym typeface="Poppins"/>
                </a:rPr>
                <a:t>10/10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521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</vt:lpstr>
      <vt:lpstr>Calibri</vt:lpstr>
      <vt:lpstr>Telegraf Medium</vt:lpstr>
      <vt:lpstr>Poppins Extra-Light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MediPredict Disease Forecast System</dc:title>
  <cp:lastModifiedBy>ATUL PATANAYAK</cp:lastModifiedBy>
  <cp:revision>1</cp:revision>
  <dcterms:created xsi:type="dcterms:W3CDTF">2006-08-16T00:00:00Z</dcterms:created>
  <dcterms:modified xsi:type="dcterms:W3CDTF">2026-05-22T12:10:14Z</dcterms:modified>
  <dc:identifier>DAHKYzIRya0</dc:identifier>
</cp:coreProperties>
</file>